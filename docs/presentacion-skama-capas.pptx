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1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2232" y="10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5489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Presentar el objetivo: entender cómo viaja la información entre capas.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F3D"/>
          </a:solidFill>
          <a:ln w="12700">
            <a:solidFill>
              <a:srgbClr val="0A4F3D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SKAMA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D8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en capas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53492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· API · Frontend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y pseudocódigo para explicar el sistema en clase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  <p:txBody>
          <a:bodyPr/>
          <a:lstStyle/>
          <a:p>
            <a:endParaRPr lang="es-CR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SKAMA · Arquitectura en capas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874520" y="135331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74520" y="169164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Estándares, relaciones, 3FN y stored procedures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2" name="Text 10"/>
          <p:cNvSpPr/>
          <p:nvPr/>
        </p:nvSpPr>
        <p:spPr>
          <a:xfrm>
            <a:off x="640080" y="25146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874520" y="249631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874520" y="283464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Controllers, Services, Repositories, Models y DTOs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6" name="Text 14"/>
          <p:cNvSpPr/>
          <p:nvPr/>
        </p:nvSpPr>
        <p:spPr>
          <a:xfrm>
            <a:off x="640080" y="36576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874520" y="363931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874520" y="397764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Servicios, providers, componentes reutilizables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48006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874520" y="478231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011680" y="512064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SKAMA · Arquitectura en capas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Vista del monorepo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proyectos, una misma historia de negocio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291840" cy="43891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3291840" cy="16459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0" name="Text 8"/>
          <p:cNvSpPr/>
          <p:nvPr/>
        </p:nvSpPr>
        <p:spPr>
          <a:xfrm>
            <a:off x="777240" y="17830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103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skama-db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7240" y="2834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Tablas y relaciones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3337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Stored procedures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3840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Seeds / ResultCode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3434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SQL Server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160520" y="1417320"/>
            <a:ext cx="3291840" cy="43891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7" name="Shape 15"/>
          <p:cNvSpPr/>
          <p:nvPr/>
        </p:nvSpPr>
        <p:spPr>
          <a:xfrm>
            <a:off x="4160520" y="1417320"/>
            <a:ext cx="3291840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8" name="Text 16"/>
          <p:cNvSpPr/>
          <p:nvPr/>
        </p:nvSpPr>
        <p:spPr>
          <a:xfrm>
            <a:off x="4389120" y="17830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2103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skama-api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389120" y="2834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Controllers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389120" y="3337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Services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389120" y="3840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Repositories + Dapper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389120" y="43434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Models / DTOs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772400" y="1417320"/>
            <a:ext cx="3291840" cy="43891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5" name="Shape 23"/>
          <p:cNvSpPr/>
          <p:nvPr/>
        </p:nvSpPr>
        <p:spPr>
          <a:xfrm>
            <a:off x="7772400" y="1417320"/>
            <a:ext cx="3291840" cy="164592"/>
          </a:xfrm>
          <a:prstGeom prst="rect">
            <a:avLst/>
          </a:prstGeom>
          <a:solidFill>
            <a:srgbClr val="7A3E12"/>
          </a:solidFill>
          <a:ln w="12700">
            <a:solidFill>
              <a:srgbClr val="7A3E12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6" name="Text 24"/>
          <p:cNvSpPr/>
          <p:nvPr/>
        </p:nvSpPr>
        <p:spPr>
          <a:xfrm>
            <a:off x="8001000" y="17830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3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01000" y="2103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skama-webapp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001000" y="2834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 + Vite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001000" y="3337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Services Axios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001000" y="3840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Providers / hooks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001000" y="43434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Componentes UI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· Base de datos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Estándares, relaciones, normalización y stored procedures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24128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0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SKAMA · Arquitectura en capas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¿Por qué SQL Server + Stored Procedures?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8" name="Shape 6"/>
          <p:cNvSpPr/>
          <p:nvPr/>
        </p:nvSpPr>
        <p:spPr>
          <a:xfrm>
            <a:off x="822960" y="1508760"/>
            <a:ext cx="320040" cy="320040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9" name="Text 7"/>
          <p:cNvSpPr/>
          <p:nvPr/>
        </p:nvSpPr>
        <p:spPr>
          <a:xfrm>
            <a:off x="1325880" y="14630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cerca de los datos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de stock, carrito activo y checkout viven en el SP.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2" name="Shape 10"/>
          <p:cNvSpPr/>
          <p:nvPr/>
        </p:nvSpPr>
        <p:spPr>
          <a:xfrm>
            <a:off x="6492240" y="1508760"/>
            <a:ext cx="320040" cy="320040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3" name="Text 11"/>
          <p:cNvSpPr/>
          <p:nvPr/>
        </p:nvSpPr>
        <p:spPr>
          <a:xfrm>
            <a:off x="6995160" y="14630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estable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21031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API llama por nombre (usp_...) sin armar SQL dinámico en C#.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6" name="Shape 14"/>
          <p:cNvSpPr/>
          <p:nvPr/>
        </p:nvSpPr>
        <p:spPr>
          <a:xfrm>
            <a:off x="822960" y="3794760"/>
            <a:ext cx="320040" cy="320040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7" name="Text 15"/>
          <p:cNvSpPr/>
          <p:nvPr/>
        </p:nvSpPr>
        <p:spPr>
          <a:xfrm>
            <a:off x="1325880" y="37490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43891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Checkout: crear orden, bajar stock y cerrar carrito en una sola unidad.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0" y="347472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0" name="Shape 18"/>
          <p:cNvSpPr/>
          <p:nvPr/>
        </p:nvSpPr>
        <p:spPr>
          <a:xfrm>
            <a:off x="6492240" y="3794760"/>
            <a:ext cx="320040" cy="320040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1" name="Text 19"/>
          <p:cNvSpPr/>
          <p:nvPr/>
        </p:nvSpPr>
        <p:spPr>
          <a:xfrm>
            <a:off x="6995160" y="37490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de resultado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92240" y="43891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ResultCode comunica éxito o error de negocio sin excepciones ruidosas.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SKAMA · Arquitectura en capas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Estándares de nombres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convención clara evita ambigüedad entre capas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6949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9" name="Text 7"/>
          <p:cNvSpPr/>
          <p:nvPr/>
        </p:nvSpPr>
        <p:spPr>
          <a:xfrm>
            <a:off x="731520" y="148132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TID_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03120" y="14813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Identificadores / FK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4813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TID_ProductId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029968"/>
            <a:ext cx="6949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3" name="Text 11"/>
          <p:cNvSpPr/>
          <p:nvPr/>
        </p:nvSpPr>
        <p:spPr>
          <a:xfrm>
            <a:off x="731520" y="213969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TC_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03120" y="213969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/ códigos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213969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TC_Name, TC_Status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688336"/>
            <a:ext cx="6949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7" name="Text 15"/>
          <p:cNvSpPr/>
          <p:nvPr/>
        </p:nvSpPr>
        <p:spPr>
          <a:xfrm>
            <a:off x="731520" y="279806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TN_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103120" y="279806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279806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TN_Price, TN_Quantity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346704"/>
            <a:ext cx="6949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1" name="Text 19"/>
          <p:cNvSpPr/>
          <p:nvPr/>
        </p:nvSpPr>
        <p:spPr>
          <a:xfrm>
            <a:off x="731520" y="3456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TB_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103120" y="34564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Booleanos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0" y="34564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TB_IsActive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005072"/>
            <a:ext cx="6949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5" name="Text 23"/>
          <p:cNvSpPr/>
          <p:nvPr/>
        </p:nvSpPr>
        <p:spPr>
          <a:xfrm>
            <a:off x="731520" y="4114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TD_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103120" y="4114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54880" y="4114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TD_CreatedAt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772400" y="1371600"/>
            <a:ext cx="3931920" cy="4297680"/>
          </a:xfrm>
          <a:prstGeom prst="roundRect">
            <a:avLst>
              <a:gd name="adj" fmla="val 2326"/>
            </a:avLst>
          </a:prstGeom>
          <a:solidFill>
            <a:srgbClr val="1C2430"/>
          </a:solidFill>
          <a:ln w="12700">
            <a:solidFill>
              <a:srgbClr val="1C2430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9" name="Text 27"/>
          <p:cNvSpPr/>
          <p:nvPr/>
        </p:nvSpPr>
        <p:spPr>
          <a:xfrm>
            <a:off x="8001000" y="1600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8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001000" y="210312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usp_&lt;Entidad&gt;_&lt;Accion&gt;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usp_CartItem_Add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usp_Order_CreateFromCart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usp_Product_GetAll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usp_User_Register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Carpetas por dominio: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carts / orders / products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 / reports …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SKAMA · Arquitectura en capas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Diagrama ER simplificado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31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del comercio: catálogo, carrito y pedido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7520" y="128016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2" name="Text 10"/>
          <p:cNvSpPr/>
          <p:nvPr/>
        </p:nvSpPr>
        <p:spPr>
          <a:xfrm>
            <a:off x="3108960" y="1463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08960" y="19659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128016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5" name="Text 13"/>
          <p:cNvSpPr/>
          <p:nvPr/>
        </p:nvSpPr>
        <p:spPr>
          <a:xfrm>
            <a:off x="5669280" y="1463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0" y="19659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[User]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128016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8" name="Text 16"/>
          <p:cNvSpPr/>
          <p:nvPr/>
        </p:nvSpPr>
        <p:spPr>
          <a:xfrm>
            <a:off x="8229600" y="1463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0" y="19659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37360" y="320040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1" name="Text 19"/>
          <p:cNvSpPr/>
          <p:nvPr/>
        </p:nvSpPr>
        <p:spPr>
          <a:xfrm>
            <a:off x="1828800" y="3383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CartItem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828800" y="38862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carrito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97680" y="320040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4" name="Text 22"/>
          <p:cNvSpPr/>
          <p:nvPr/>
        </p:nvSpPr>
        <p:spPr>
          <a:xfrm>
            <a:off x="4389120" y="3383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389120" y="38862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[Order]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0" y="320040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7" name="Text 25"/>
          <p:cNvSpPr/>
          <p:nvPr/>
        </p:nvSpPr>
        <p:spPr>
          <a:xfrm>
            <a:off x="6949440" y="3383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OrderItem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49440" y="38862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418320" y="320040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0" name="Text 28"/>
          <p:cNvSpPr/>
          <p:nvPr/>
        </p:nvSpPr>
        <p:spPr>
          <a:xfrm>
            <a:off x="9509760" y="3383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509760" y="38862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↔ 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663440"/>
            <a:ext cx="11155680" cy="1554480"/>
          </a:xfrm>
          <a:prstGeom prst="roundRect">
            <a:avLst>
              <a:gd name="adj" fmla="val 4706"/>
            </a:avLst>
          </a:prstGeom>
          <a:solidFill>
            <a:srgbClr val="D8F3E7"/>
          </a:solidFill>
          <a:ln w="12700">
            <a:solidFill>
              <a:srgbClr val="D8F3E7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3" name="Text 31"/>
          <p:cNvSpPr/>
          <p:nvPr/>
        </p:nvSpPr>
        <p:spPr>
          <a:xfrm>
            <a:off x="685800" y="48006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clave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5800" y="51663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→ Product → CartItem ← Cart ← User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→ Order → OrderItem ← Product (con nombre y precio históricos)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↔ Product mediante PromotionProduct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SKAMA · Arquitectura en capas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3FN en la práctica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8" name="Text 6"/>
          <p:cNvSpPr/>
          <p:nvPr/>
        </p:nvSpPr>
        <p:spPr>
          <a:xfrm>
            <a:off x="82296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Normalizado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1920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Role, User, CustomerProfile separados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468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Category independiente de Product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CartItem / OrderItem como tablas hijas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3566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PromotionProduct resuelve N↔N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4114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Unicidad: un producto por carrito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46634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Inventario y reviews en tablas propias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309360" y="1097280"/>
            <a:ext cx="5212080" cy="4754880"/>
          </a:xfrm>
          <a:prstGeom prst="roundRect">
            <a:avLst>
              <a:gd name="adj" fmla="val 1923"/>
            </a:avLst>
          </a:prstGeom>
          <a:solidFill>
            <a:srgbClr val="FFF3D6"/>
          </a:solidFill>
          <a:ln w="12700">
            <a:solidFill>
              <a:srgbClr val="E8D5A8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6" name="Text 14"/>
          <p:cNvSpPr/>
          <p:nvPr/>
        </p:nvSpPr>
        <p:spPr>
          <a:xfrm>
            <a:off x="6583680" y="1325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Excepción intencional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83680" y="1874520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OrderItem guarda: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TC_ProductName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TN_UnitPrice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qué?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el pedido es un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historial: si el producto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de nombre o precio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tarde, la factura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conservar lo comprado.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error de modelado: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denormalización a propósito.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SKAMA · Arquitectura en capas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Pseudocódigo: usp_CartItem_Add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7132320" cy="5303520"/>
          </a:xfrm>
          <a:prstGeom prst="roundRect">
            <a:avLst>
              <a:gd name="adj" fmla="val 1724"/>
            </a:avLst>
          </a:prstGeom>
          <a:solidFill>
            <a:srgbClr val="1C2430"/>
          </a:solidFill>
          <a:ln w="12700">
            <a:solidFill>
              <a:srgbClr val="1C2430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8" name="Text 6"/>
          <p:cNvSpPr/>
          <p:nvPr/>
        </p:nvSpPr>
        <p:spPr>
          <a:xfrm>
            <a:off x="685800" y="105156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8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 (lógica de negocio)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417320"/>
            <a:ext cx="667512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PROCEDIMIENTO AgregarItemCarrito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(cartId, productId, quantity)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SALIDA: cartItemId, resultCode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quantity &lt;= 0 → resultCode = 2; SALIR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carrito no ACTIVE → 31; SALIR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producto inexistente/inactivo → 20; SALIR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cantidadExistente + quantity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total &gt; stock → 22; SALIR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ya existe la línea: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ACTUALIZAR cantidad y precio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NO: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INSERTAR nueva línea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ACTUALIZAR fecha del carrito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resultCode = 0  // éxito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18120" y="914400"/>
            <a:ext cx="3840480" cy="530352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1" name="Text 9"/>
          <p:cNvSpPr/>
          <p:nvPr/>
        </p:nvSpPr>
        <p:spPr>
          <a:xfrm>
            <a:off x="8092440" y="1143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ResultCode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92440" y="1737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869680" y="1737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Éxito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92440" y="2468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869680" y="2468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inválida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92440" y="32004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69680" y="3200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no activo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92440" y="39319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69680" y="3931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insuficiente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9244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869680" y="4663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Carrito no activo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SKAMA · Arquitectura en capas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Pseudocódigo: usp_Order_CreateFromCart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transacción: todo o nada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1247120" cy="5029200"/>
          </a:xfrm>
          <a:prstGeom prst="roundRect">
            <a:avLst>
              <a:gd name="adj" fmla="val 1818"/>
            </a:avLst>
          </a:prstGeom>
          <a:solidFill>
            <a:srgbClr val="1C2430"/>
          </a:solidFill>
          <a:ln w="12700">
            <a:solidFill>
              <a:srgbClr val="1C2430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9" name="Text 7"/>
          <p:cNvSpPr/>
          <p:nvPr/>
        </p:nvSpPr>
        <p:spPr>
          <a:xfrm>
            <a:off x="685800" y="13258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8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transaccional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69164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INICIAR TRANSACCIÓN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Validar carrito ACTIVE y con ítems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Validar stock de cada producto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INSERTAR Order  (totales, dirección, método de pago)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POR CADA ítem del carrito: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INSERTAR OrderItem  (nombre + precio snapshot)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DECREMENTAR stock del Product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MARCAR Cart como CHECKED_OUT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resultCode = 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CONFIRMAR TRANSACCIÓN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falla cualquier paso → REVERTIR (ROLLBACK)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· API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Controllers, Services, Repositories, Models y DTOs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24128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0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SKAMA · Arquitectura en capas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Capas de la API (ASP.NET)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011680" y="105156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8" name="Text 6"/>
          <p:cNvSpPr/>
          <p:nvPr/>
        </p:nvSpPr>
        <p:spPr>
          <a:xfrm>
            <a:off x="2286000" y="1188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286000" y="15544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 rutas, status codes, ProblemDetails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760720" y="1965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573"/>
                </a:solidFill>
              </a:rPr>
              <a:t>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11680" y="22402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2" name="Text 10"/>
          <p:cNvSpPr/>
          <p:nvPr/>
        </p:nvSpPr>
        <p:spPr>
          <a:xfrm>
            <a:off x="2286000" y="2377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286000" y="27432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aplicación y mensajes al cliente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60720" y="3154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573"/>
                </a:solidFill>
              </a:rPr>
              <a:t>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011680" y="342900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3D87B8"/>
          </a:solidFill>
          <a:ln w="12700">
            <a:solidFill>
              <a:srgbClr val="3D87B8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6" name="Text 14"/>
          <p:cNvSpPr/>
          <p:nvPr/>
        </p:nvSpPr>
        <p:spPr>
          <a:xfrm>
            <a:off x="2286000" y="3566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286000" y="39319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 + llamadas a stored procedures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760720" y="4343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573"/>
                </a:solidFill>
              </a:rPr>
              <a:t>▼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011680" y="4617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0" name="Text 18"/>
          <p:cNvSpPr/>
          <p:nvPr/>
        </p:nvSpPr>
        <p:spPr>
          <a:xfrm>
            <a:off x="2286000" y="47548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SP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286000" y="51206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y reglas duras de negocio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SKAMA · Arquitectura en capas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hace cada capa?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8" name="Text 6"/>
          <p:cNvSpPr/>
          <p:nvPr/>
        </p:nvSpPr>
        <p:spPr>
          <a:xfrm>
            <a:off x="640080" y="117043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11704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0" y="11704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Ejemplo SKAMA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2" name="Text 10"/>
          <p:cNvSpPr/>
          <p:nvPr/>
        </p:nvSpPr>
        <p:spPr>
          <a:xfrm>
            <a:off x="640080" y="19476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0" y="19476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HTTP y respuesta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0" y="19476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CartController.AddItem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11247120" cy="685800"/>
          </a:xfrm>
          <a:prstGeom prst="rect">
            <a:avLst/>
          </a:prstGeom>
          <a:solidFill>
            <a:srgbClr val="E6EEF6"/>
          </a:solidFill>
          <a:ln w="1270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6" name="Text 14"/>
          <p:cNvSpPr/>
          <p:nvPr/>
        </p:nvSpPr>
        <p:spPr>
          <a:xfrm>
            <a:off x="640080" y="27249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17520" y="27249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Orquestar + mapear errores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0" y="27249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CartService → mensajes 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33756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0" name="Text 18"/>
          <p:cNvSpPr/>
          <p:nvPr/>
        </p:nvSpPr>
        <p:spPr>
          <a:xfrm>
            <a:off x="640080" y="350215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017520" y="35021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Hablar con la BD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0" y="35021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ExecuteAsync usp_CartItem_Add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11247120" cy="685800"/>
          </a:xfrm>
          <a:prstGeom prst="rect">
            <a:avLst/>
          </a:prstGeom>
          <a:solidFill>
            <a:srgbClr val="E6EEF6"/>
          </a:solidFill>
          <a:ln w="1270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4" name="Text 22"/>
          <p:cNvSpPr/>
          <p:nvPr/>
        </p:nvSpPr>
        <p:spPr>
          <a:xfrm>
            <a:off x="640080" y="42793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17520" y="42793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datos persistidos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0" y="42793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Cart, Product, Order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89204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8" name="Text 26"/>
          <p:cNvSpPr/>
          <p:nvPr/>
        </p:nvSpPr>
        <p:spPr>
          <a:xfrm>
            <a:off x="640080" y="505663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017520" y="50566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público de la API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5200" y="50566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AddCartItemRequest, CartDetailDto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SKAMA · Arquitectura en capas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vs DTOs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exponemos la tabla cruda: adaptamos para cada frontera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9" name="Text 7"/>
          <p:cNvSpPr/>
          <p:nvPr/>
        </p:nvSpPr>
        <p:spPr>
          <a:xfrm>
            <a:off x="731520" y="1554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(interno)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Id, CategoryId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Name, Price, Stock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IsActive, CreatedAt…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Refleja lo que viene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stored procedure /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de persistencia.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7920" y="132588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2" name="Text 10"/>
          <p:cNvSpPr/>
          <p:nvPr/>
        </p:nvSpPr>
        <p:spPr>
          <a:xfrm>
            <a:off x="6492240" y="1554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(contrato API)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210312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ProductDto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+ CategoryName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forma lista para UI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CreateProductRequest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[Required], [Range]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validación de entrada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Service convierte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→ Model → Dto.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SKAMA · Arquitectura en capas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28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Flujo: POST /api/cart/{cartId}/items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6949440" cy="5394960"/>
          </a:xfrm>
          <a:prstGeom prst="roundRect">
            <a:avLst>
              <a:gd name="adj" fmla="val 1695"/>
            </a:avLst>
          </a:prstGeom>
          <a:solidFill>
            <a:srgbClr val="1C2430"/>
          </a:solidFill>
          <a:ln w="12700">
            <a:solidFill>
              <a:srgbClr val="1C2430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8" name="Text 6"/>
          <p:cNvSpPr/>
          <p:nvPr/>
        </p:nvSpPr>
        <p:spPr>
          <a:xfrm>
            <a:off x="685800" y="96012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8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Pseudocódigo del recorrido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325880"/>
            <a:ext cx="649224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Controller.AddItem(cartId, request)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 modelo inválido → 400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resultado = Service.AddItem(...)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 no éxito → 400 + mensaje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 éxito → 201 Created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Service.AddItem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(id, code) = Repository.AddItem(...)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SEGÚN code: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  → éxito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20 → "producto no activo"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22 → "stock insuficiente"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31 → "carrito no activo"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Repository.AddItem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Execute usp_CartItem_Add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leer @CartItemId, @ResultCode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(nullable → Guid.Empty / -1)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822960"/>
            <a:ext cx="4023360" cy="5394960"/>
          </a:xfrm>
          <a:prstGeom prst="roundRect">
            <a:avLst>
              <a:gd name="adj" fmla="val 2273"/>
            </a:avLst>
          </a:prstGeom>
          <a:solidFill>
            <a:srgbClr val="E6EEF6"/>
          </a:solidFill>
          <a:ln w="12700">
            <a:solidFill>
              <a:srgbClr val="E6EEF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1" name="Text 9"/>
          <p:cNvSpPr/>
          <p:nvPr/>
        </p:nvSpPr>
        <p:spPr>
          <a:xfrm>
            <a:off x="7955280" y="1097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clave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55280" y="1645920"/>
            <a:ext cx="35661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SP decide el código de negocio.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Service lo traduce a un mensaje humano.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Controller solo elige el status HTTP.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cada capa tiene un solo trabajo.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SKAMA · Arquitectura en capas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28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Secuencia: agregar al carrito (API)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097280" y="914400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8" name="Text 6"/>
          <p:cNvSpPr/>
          <p:nvPr/>
        </p:nvSpPr>
        <p:spPr>
          <a:xfrm>
            <a:off x="1097280" y="98755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94560" y="1417320"/>
            <a:ext cx="0" cy="4572000"/>
          </a:xfrm>
          <a:prstGeom prst="line">
            <a:avLst/>
          </a:prstGeom>
          <a:noFill/>
          <a:ln w="15875">
            <a:solidFill>
              <a:srgbClr val="D9D3C9"/>
            </a:solidFill>
            <a:prstDash val="dash"/>
          </a:ln>
        </p:spPr>
        <p:txBody>
          <a:bodyPr/>
          <a:lstStyle/>
          <a:p>
            <a:endParaRPr lang="es-CR"/>
          </a:p>
        </p:txBody>
      </p:sp>
      <p:sp>
        <p:nvSpPr>
          <p:cNvPr id="10" name="Shape 8"/>
          <p:cNvSpPr/>
          <p:nvPr/>
        </p:nvSpPr>
        <p:spPr>
          <a:xfrm>
            <a:off x="3840480" y="914400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1" name="Text 9"/>
          <p:cNvSpPr/>
          <p:nvPr/>
        </p:nvSpPr>
        <p:spPr>
          <a:xfrm>
            <a:off x="3840480" y="98755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37760" y="1417320"/>
            <a:ext cx="0" cy="4572000"/>
          </a:xfrm>
          <a:prstGeom prst="line">
            <a:avLst/>
          </a:prstGeom>
          <a:noFill/>
          <a:ln w="15875">
            <a:solidFill>
              <a:srgbClr val="D9D3C9"/>
            </a:solidFill>
            <a:prstDash val="dash"/>
          </a:ln>
        </p:spPr>
        <p:txBody>
          <a:bodyPr/>
          <a:lstStyle/>
          <a:p>
            <a:endParaRPr lang="es-CR"/>
          </a:p>
        </p:txBody>
      </p:sp>
      <p:sp>
        <p:nvSpPr>
          <p:cNvPr id="13" name="Shape 11"/>
          <p:cNvSpPr/>
          <p:nvPr/>
        </p:nvSpPr>
        <p:spPr>
          <a:xfrm>
            <a:off x="6583680" y="914400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4" name="Text 12"/>
          <p:cNvSpPr/>
          <p:nvPr/>
        </p:nvSpPr>
        <p:spPr>
          <a:xfrm>
            <a:off x="6583680" y="98755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680960" y="1417320"/>
            <a:ext cx="0" cy="4572000"/>
          </a:xfrm>
          <a:prstGeom prst="line">
            <a:avLst/>
          </a:prstGeom>
          <a:noFill/>
          <a:ln w="15875">
            <a:solidFill>
              <a:srgbClr val="D9D3C9"/>
            </a:solidFill>
            <a:prstDash val="dash"/>
          </a:ln>
        </p:spPr>
        <p:txBody>
          <a:bodyPr/>
          <a:lstStyle/>
          <a:p>
            <a:endParaRPr lang="es-CR"/>
          </a:p>
        </p:txBody>
      </p:sp>
      <p:sp>
        <p:nvSpPr>
          <p:cNvPr id="16" name="Shape 14"/>
          <p:cNvSpPr/>
          <p:nvPr/>
        </p:nvSpPr>
        <p:spPr>
          <a:xfrm>
            <a:off x="9326880" y="914400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7" name="Text 15"/>
          <p:cNvSpPr/>
          <p:nvPr/>
        </p:nvSpPr>
        <p:spPr>
          <a:xfrm>
            <a:off x="9326880" y="98755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/ SQL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424160" y="1417320"/>
            <a:ext cx="0" cy="4572000"/>
          </a:xfrm>
          <a:prstGeom prst="line">
            <a:avLst/>
          </a:prstGeom>
          <a:noFill/>
          <a:ln w="15875">
            <a:solidFill>
              <a:srgbClr val="D9D3C9"/>
            </a:solidFill>
            <a:prstDash val="dash"/>
          </a:ln>
        </p:spPr>
        <p:txBody>
          <a:bodyPr/>
          <a:lstStyle/>
          <a:p>
            <a:endParaRPr lang="es-CR"/>
          </a:p>
        </p:txBody>
      </p:sp>
      <p:sp>
        <p:nvSpPr>
          <p:cNvPr id="19" name="Shape 17"/>
          <p:cNvSpPr/>
          <p:nvPr/>
        </p:nvSpPr>
        <p:spPr>
          <a:xfrm>
            <a:off x="2194560" y="1737360"/>
            <a:ext cx="2743200" cy="256032"/>
          </a:xfrm>
          <a:prstGeom prst="rightArrow">
            <a:avLst/>
          </a:prstGeom>
          <a:solidFill>
            <a:srgbClr val="5B8FB9"/>
          </a:solidFill>
          <a:ln w="1270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0" name="Text 18"/>
          <p:cNvSpPr/>
          <p:nvPr/>
        </p:nvSpPr>
        <p:spPr>
          <a:xfrm>
            <a:off x="2194560" y="20299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AddItemAsync(request)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2468880"/>
            <a:ext cx="2743200" cy="256032"/>
          </a:xfrm>
          <a:prstGeom prst="rightArrow">
            <a:avLst/>
          </a:prstGeom>
          <a:solidFill>
            <a:srgbClr val="5B8FB9"/>
          </a:solidFill>
          <a:ln w="1270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2" name="Text 20"/>
          <p:cNvSpPr/>
          <p:nvPr/>
        </p:nvSpPr>
        <p:spPr>
          <a:xfrm>
            <a:off x="4937760" y="27614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AddItemAsync(ids, qty)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680960" y="3200400"/>
            <a:ext cx="2743200" cy="256032"/>
          </a:xfrm>
          <a:prstGeom prst="rightArrow">
            <a:avLst/>
          </a:prstGeom>
          <a:solidFill>
            <a:srgbClr val="5B8FB9"/>
          </a:solidFill>
          <a:ln w="12700">
            <a:solidFill>
              <a:srgbClr val="5B8FB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4" name="Text 22"/>
          <p:cNvSpPr/>
          <p:nvPr/>
        </p:nvSpPr>
        <p:spPr>
          <a:xfrm>
            <a:off x="7680960" y="34930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usp_CartItem_Add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80960" y="3931920"/>
            <a:ext cx="2743200" cy="256032"/>
          </a:xfrm>
          <a:prstGeom prst="rightArrow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6" name="Text 24"/>
          <p:cNvSpPr/>
          <p:nvPr/>
        </p:nvSpPr>
        <p:spPr>
          <a:xfrm>
            <a:off x="7680960" y="4224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CartItemId + ResultCode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4663440"/>
            <a:ext cx="2743200" cy="256032"/>
          </a:xfrm>
          <a:prstGeom prst="rightArrow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8" name="Text 26"/>
          <p:cNvSpPr/>
          <p:nvPr/>
        </p:nvSpPr>
        <p:spPr>
          <a:xfrm>
            <a:off x="4937760" y="49560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tupla (id, code)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194560" y="5394960"/>
            <a:ext cx="2743200" cy="256032"/>
          </a:xfrm>
          <a:prstGeom prst="rightArrow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0" name="Text 28"/>
          <p:cNvSpPr/>
          <p:nvPr/>
        </p:nvSpPr>
        <p:spPr>
          <a:xfrm>
            <a:off x="2194560" y="56875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éxito / mensaje error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3E12"/>
          </a:solidFill>
          <a:ln w="12700">
            <a:solidFill>
              <a:srgbClr val="7A3E12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· Frontend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Servicios, providers, componentes y el viaje de la información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24128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0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A3E12"/>
          </a:solidFill>
          <a:ln w="12700">
            <a:solidFill>
              <a:srgbClr val="7A3E12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SKAMA · Arquitectura en capas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Capas del frontend (React)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828800" y="1097280"/>
            <a:ext cx="8595360" cy="1005840"/>
          </a:xfrm>
          <a:prstGeom prst="roundRect">
            <a:avLst>
              <a:gd name="adj" fmla="val 7273"/>
            </a:avLst>
          </a:prstGeom>
          <a:solidFill>
            <a:srgbClr val="7A3E12"/>
          </a:solidFill>
          <a:ln w="12700">
            <a:solidFill>
              <a:srgbClr val="7A3E12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8" name="Text 6"/>
          <p:cNvSpPr/>
          <p:nvPr/>
        </p:nvSpPr>
        <p:spPr>
          <a:xfrm>
            <a:off x="2103120" y="1234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/ Vista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10312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CatalogPage, CartPage — componen la pantalla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28800" y="2286000"/>
            <a:ext cx="8595360" cy="1005840"/>
          </a:xfrm>
          <a:prstGeom prst="roundRect">
            <a:avLst>
              <a:gd name="adj" fmla="val 7273"/>
            </a:avLst>
          </a:prstGeom>
          <a:solidFill>
            <a:srgbClr val="9A5520"/>
          </a:solidFill>
          <a:ln w="12700">
            <a:solidFill>
              <a:srgbClr val="9A5520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1" name="Text 9"/>
          <p:cNvSpPr/>
          <p:nvPr/>
        </p:nvSpPr>
        <p:spPr>
          <a:xfrm>
            <a:off x="2103120" y="2423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/ Hook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103120" y="2788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CartProvider, useCart — estado y acciones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828800" y="3474720"/>
            <a:ext cx="8595360" cy="1005840"/>
          </a:xfrm>
          <a:prstGeom prst="roundRect">
            <a:avLst>
              <a:gd name="adj" fmla="val 7273"/>
            </a:avLst>
          </a:prstGeom>
          <a:solidFill>
            <a:srgbClr val="B06A2C"/>
          </a:solidFill>
          <a:ln w="12700">
            <a:solidFill>
              <a:srgbClr val="B06A2C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4" name="Text 12"/>
          <p:cNvSpPr/>
          <p:nvPr/>
        </p:nvSpPr>
        <p:spPr>
          <a:xfrm>
            <a:off x="2103120" y="36118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Axios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103120" y="3977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cartService, productService, apiPaths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828800" y="4663440"/>
            <a:ext cx="8595360" cy="1005840"/>
          </a:xfrm>
          <a:prstGeom prst="roundRect">
            <a:avLst>
              <a:gd name="adj" fmla="val 7273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7" name="Text 15"/>
          <p:cNvSpPr/>
          <p:nvPr/>
        </p:nvSpPr>
        <p:spPr>
          <a:xfrm>
            <a:off x="2103120" y="4800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Vite /api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103120" y="5166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Reenvía a https://localhost:7157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A3E12"/>
          </a:solidFill>
          <a:ln w="12700">
            <a:solidFill>
              <a:srgbClr val="7A3E12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SKAMA · Arquitectura en capas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Reutilización de componentes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8" name="Shape 6"/>
          <p:cNvSpPr/>
          <p:nvPr/>
        </p:nvSpPr>
        <p:spPr>
          <a:xfrm>
            <a:off x="548640" y="1097280"/>
            <a:ext cx="137160" cy="2103120"/>
          </a:xfrm>
          <a:prstGeom prst="rect">
            <a:avLst/>
          </a:prstGeom>
          <a:solidFill>
            <a:srgbClr val="7A3E12"/>
          </a:solidFill>
          <a:ln w="12700">
            <a:solidFill>
              <a:srgbClr val="7A3E12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9" name="Text 7"/>
          <p:cNvSpPr/>
          <p:nvPr/>
        </p:nvSpPr>
        <p:spPr>
          <a:xfrm>
            <a:off x="960120" y="1508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ProductCard / ProductGrid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21488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tarjeta en catálogo, búsqueda y destacados.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09360" y="109728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2" name="Shape 10"/>
          <p:cNvSpPr/>
          <p:nvPr/>
        </p:nvSpPr>
        <p:spPr>
          <a:xfrm>
            <a:off x="6309360" y="1097280"/>
            <a:ext cx="137160" cy="2103120"/>
          </a:xfrm>
          <a:prstGeom prst="rect">
            <a:avLst/>
          </a:prstGeom>
          <a:solidFill>
            <a:srgbClr val="7A3E12"/>
          </a:solidFill>
          <a:ln w="12700">
            <a:solidFill>
              <a:srgbClr val="7A3E12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3" name="Text 11"/>
          <p:cNvSpPr/>
          <p:nvPr/>
        </p:nvSpPr>
        <p:spPr>
          <a:xfrm>
            <a:off x="6720840" y="1508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CartProvider + useCart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720840" y="21488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fuente de verdad para el carrito en toda la app.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137160" cy="2103120"/>
          </a:xfrm>
          <a:prstGeom prst="rect">
            <a:avLst/>
          </a:prstGeom>
          <a:solidFill>
            <a:srgbClr val="7A3E12"/>
          </a:solidFill>
          <a:ln w="12700">
            <a:solidFill>
              <a:srgbClr val="7A3E12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7" name="Text 15"/>
          <p:cNvSpPr/>
          <p:nvPr/>
        </p:nvSpPr>
        <p:spPr>
          <a:xfrm>
            <a:off x="960120" y="3886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/ Error / Empty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45262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UI consistentes, sin copiar markup.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09360" y="347472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0" name="Shape 18"/>
          <p:cNvSpPr/>
          <p:nvPr/>
        </p:nvSpPr>
        <p:spPr>
          <a:xfrm>
            <a:off x="6309360" y="3474720"/>
            <a:ext cx="137160" cy="2103120"/>
          </a:xfrm>
          <a:prstGeom prst="rect">
            <a:avLst/>
          </a:prstGeom>
          <a:solidFill>
            <a:srgbClr val="7A3E12"/>
          </a:solidFill>
          <a:ln w="12700">
            <a:solidFill>
              <a:srgbClr val="7A3E12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1" name="Text 19"/>
          <p:cNvSpPr/>
          <p:nvPr/>
        </p:nvSpPr>
        <p:spPr>
          <a:xfrm>
            <a:off x="6720840" y="3886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apiClient + apiPaths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720840" y="45262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base URL y rutas centralizadas.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A3E12"/>
          </a:solidFill>
          <a:ln w="12700">
            <a:solidFill>
              <a:srgbClr val="7A3E12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SKAMA · Arquitectura en capas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Viaje completo: del clic a la base de datos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7A3E12"/>
          </a:solidFill>
          <a:ln w="12700">
            <a:solidFill>
              <a:srgbClr val="7A3E12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8" name="Text 6"/>
          <p:cNvSpPr/>
          <p:nvPr/>
        </p:nvSpPr>
        <p:spPr>
          <a:xfrm>
            <a:off x="320040" y="15544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ProductCard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468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1874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573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011680" y="137160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9A5520"/>
          </a:solidFill>
          <a:ln w="12700">
            <a:solidFill>
              <a:srgbClr val="9A5520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2" name="Text 10"/>
          <p:cNvSpPr/>
          <p:nvPr/>
        </p:nvSpPr>
        <p:spPr>
          <a:xfrm>
            <a:off x="2011680" y="15544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useCart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2468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1874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573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703320" y="137160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B06A2C"/>
          </a:solidFill>
          <a:ln w="12700">
            <a:solidFill>
              <a:srgbClr val="B06A2C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6" name="Text 14"/>
          <p:cNvSpPr/>
          <p:nvPr/>
        </p:nvSpPr>
        <p:spPr>
          <a:xfrm>
            <a:off x="3703320" y="15544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cartService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03320" y="2468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1874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573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94960" y="137160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0" name="Text 18"/>
          <p:cNvSpPr/>
          <p:nvPr/>
        </p:nvSpPr>
        <p:spPr>
          <a:xfrm>
            <a:off x="5394960" y="15544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CartController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0" y="2468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1874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573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086600" y="137160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4" name="Text 22"/>
          <p:cNvSpPr/>
          <p:nvPr/>
        </p:nvSpPr>
        <p:spPr>
          <a:xfrm>
            <a:off x="7086600" y="15544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CartService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86600" y="2468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03920" y="1874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573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778240" y="137160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3D87B8"/>
          </a:solidFill>
          <a:ln w="12700">
            <a:solidFill>
              <a:srgbClr val="3D87B8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8" name="Text 26"/>
          <p:cNvSpPr/>
          <p:nvPr/>
        </p:nvSpPr>
        <p:spPr>
          <a:xfrm>
            <a:off x="8778240" y="15544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778240" y="2468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195560" y="1874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573"/>
                </a:solidFill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469880" y="137160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2" name="Text 30"/>
          <p:cNvSpPr/>
          <p:nvPr/>
        </p:nvSpPr>
        <p:spPr>
          <a:xfrm>
            <a:off x="10469880" y="15544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usp_Cart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Item_Add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469880" y="2468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383280"/>
            <a:ext cx="112471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5" name="Text 33"/>
          <p:cNvSpPr/>
          <p:nvPr/>
        </p:nvSpPr>
        <p:spPr>
          <a:xfrm>
            <a:off x="731520" y="36118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 para la clase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31520" y="406908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El usuario pulsa “Agregar” en ProductCard.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useCart pide getOrCreate del carrito y luego addItem.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Axios envía POST /api/cart/{id}/items (vía proxy Vite).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La API baja por Controller → Service → Repository → SP.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SQL valida stock, escribe CartItem y devuelve ResultCode.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El frontend refresca el carrito y actualiza la UI.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A3E12"/>
          </a:solidFill>
          <a:ln w="12700">
            <a:solidFill>
              <a:srgbClr val="7A3E12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SKAMA · Arquitectura en capas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Proxy local (Vite)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14400" y="1645920"/>
            <a:ext cx="2926080" cy="2194560"/>
          </a:xfrm>
          <a:prstGeom prst="roundRect">
            <a:avLst>
              <a:gd name="adj" fmla="val 4167"/>
            </a:avLst>
          </a:prstGeom>
          <a:solidFill>
            <a:srgbClr val="7A3E12"/>
          </a:solidFill>
          <a:ln w="12700">
            <a:solidFill>
              <a:srgbClr val="7A3E12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8" name="Text 6"/>
          <p:cNvSpPr/>
          <p:nvPr/>
        </p:nvSpPr>
        <p:spPr>
          <a:xfrm>
            <a:off x="109728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25603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6EA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localhost:5173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6EA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/api/cart/...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94760" y="24688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5B6573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572000" y="1645920"/>
            <a:ext cx="2926080" cy="2194560"/>
          </a:xfrm>
          <a:prstGeom prst="roundRect">
            <a:avLst>
              <a:gd name="adj" fmla="val 4167"/>
            </a:avLst>
          </a:prstGeom>
          <a:solidFill>
            <a:srgbClr val="9A5520"/>
          </a:solidFill>
          <a:ln w="12700">
            <a:solidFill>
              <a:srgbClr val="9A5520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2" name="Text 10"/>
          <p:cNvSpPr/>
          <p:nvPr/>
        </p:nvSpPr>
        <p:spPr>
          <a:xfrm>
            <a:off x="475488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Vite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54880" y="25603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6EA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reenvía /api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6EA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/images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52360" y="24688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5B6573"/>
                </a:solidFill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8229600" y="1645920"/>
            <a:ext cx="2926080" cy="2194560"/>
          </a:xfrm>
          <a:prstGeom prst="roundRect">
            <a:avLst>
              <a:gd name="adj" fmla="val 4167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6" name="Text 14"/>
          <p:cNvSpPr/>
          <p:nvPr/>
        </p:nvSpPr>
        <p:spPr>
          <a:xfrm>
            <a:off x="841248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.NET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12480" y="25603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6EA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https://localhost:7157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389120"/>
            <a:ext cx="10241280" cy="1554480"/>
          </a:xfrm>
          <a:prstGeom prst="roundRect">
            <a:avLst>
              <a:gd name="adj" fmla="val 4706"/>
            </a:avLst>
          </a:prstGeom>
          <a:solidFill>
            <a:srgbClr val="D8F3E7"/>
          </a:solidFill>
          <a:ln w="12700">
            <a:solidFill>
              <a:srgbClr val="D8F3E7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9" name="Text 17"/>
          <p:cNvSpPr/>
          <p:nvPr/>
        </p:nvSpPr>
        <p:spPr>
          <a:xfrm>
            <a:off x="1188720" y="4709160"/>
            <a:ext cx="9692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demo local el frontend no llama “directo” a otro origen: Vite enruta /api al backend.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 simplifica CORS y deja ver en Network las mismas rutas que usa la API.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· Demo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mostrar en pantalla (sin leer código línea a línea)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24128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0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26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F3D"/>
          </a:solidFill>
          <a:ln w="12700">
            <a:solidFill>
              <a:srgbClr val="0A4F3D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¿Preguntas?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SKAMA · Base de datos · API · Frontend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24128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0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1560</Words>
  <Application>Microsoft Office PowerPoint</Application>
  <PresentationFormat>Panorámica</PresentationFormat>
  <Paragraphs>387</Paragraphs>
  <Slides>23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8" baseType="lpstr">
      <vt:lpstr>Arial</vt:lpstr>
      <vt:lpstr>Calibri</vt:lpstr>
      <vt:lpstr>Consolas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SKAMA — Arquitectura en capas</dc:title>
  <dc:subject>Presentación de clase: BD, API y Frontend</dc:subject>
  <dc:creator>SKAMA</dc:creator>
  <cp:lastModifiedBy>Kenny AC</cp:lastModifiedBy>
  <cp:revision>2</cp:revision>
  <dcterms:created xsi:type="dcterms:W3CDTF">2026-08-04T21:35:06Z</dcterms:created>
  <dcterms:modified xsi:type="dcterms:W3CDTF">2026-08-04T21:39:47Z</dcterms:modified>
</cp:coreProperties>
</file>